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
      <p:font typeface="Maven Pro"/>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22" Type="http://schemas.openxmlformats.org/officeDocument/2006/relationships/font" Target="fonts/MavenPro-regular.fntdata"/><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2c9c75a9d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92c9c75a9d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2c9c75a9d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2c9c75a9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2c9c75a9d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2c9c75a9d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92c9c75a9d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92c9c75a9d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2c9c75a9d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2c9c75a9d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2c9c75a9d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92c9c75a9d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2c9c75a9d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92c9c75a9d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2c9c75a9d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2c9c75a9d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2c9c75a9d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2c9c75a9d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92c9c75a9d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92c9c75a9d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92c9c75a9d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92c9c75a9d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25"/>
            <a:ext cx="45309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fr"/>
              <a:t>Projet GestionStock : Cycle de vie complet d'une BDD</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Création, Sécurisation et Exploitation sous MariaDB</a:t>
            </a:r>
            <a:endParaRPr/>
          </a:p>
        </p:txBody>
      </p:sp>
      <p:sp>
        <p:nvSpPr>
          <p:cNvPr id="279" name="Google Shape;279;p13"/>
          <p:cNvSpPr txBox="1"/>
          <p:nvPr>
            <p:ph idx="1" type="subTitle"/>
          </p:nvPr>
        </p:nvSpPr>
        <p:spPr>
          <a:xfrm>
            <a:off x="824000" y="4291700"/>
            <a:ext cx="1804500" cy="4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200"/>
              <a:t>AUGIER Flavien </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Sommaire</a:t>
            </a:r>
            <a:endParaRPr/>
          </a:p>
        </p:txBody>
      </p:sp>
      <p:sp>
        <p:nvSpPr>
          <p:cNvPr id="285" name="Google Shape;285;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10000"/>
          </a:bodyPr>
          <a:lstStyle/>
          <a:p>
            <a:pPr indent="-298450" lvl="0" marL="457200" rtl="0" algn="l">
              <a:lnSpc>
                <a:spcPct val="200000"/>
              </a:lnSpc>
              <a:spcBef>
                <a:spcPts val="0"/>
              </a:spcBef>
              <a:spcAft>
                <a:spcPts val="0"/>
              </a:spcAft>
              <a:buClr>
                <a:srgbClr val="000000"/>
              </a:buClr>
              <a:buSzPts val="1100"/>
              <a:buFont typeface="Arial"/>
              <a:buAutoNum type="arabicPeriod"/>
            </a:pPr>
            <a:r>
              <a:rPr b="1" lang="fr" sz="1100">
                <a:solidFill>
                  <a:srgbClr val="000000"/>
                </a:solidFill>
                <a:latin typeface="Arial"/>
                <a:ea typeface="Arial"/>
                <a:cs typeface="Arial"/>
                <a:sym typeface="Arial"/>
              </a:rPr>
              <a:t>Infrastructure :</a:t>
            </a:r>
            <a:r>
              <a:rPr lang="fr" sz="1100">
                <a:solidFill>
                  <a:srgbClr val="000000"/>
                </a:solidFill>
                <a:latin typeface="Arial"/>
                <a:ea typeface="Arial"/>
                <a:cs typeface="Arial"/>
                <a:sym typeface="Arial"/>
              </a:rPr>
              <a:t> Création de la base et des tables</a:t>
            </a:r>
            <a:endParaRPr sz="1100">
              <a:solidFill>
                <a:srgbClr val="000000"/>
              </a:solidFill>
              <a:latin typeface="Arial"/>
              <a:ea typeface="Arial"/>
              <a:cs typeface="Arial"/>
              <a:sym typeface="Arial"/>
            </a:endParaRPr>
          </a:p>
          <a:p>
            <a:pPr indent="-298450" lvl="0" marL="457200" rtl="0" algn="l">
              <a:lnSpc>
                <a:spcPct val="200000"/>
              </a:lnSpc>
              <a:spcBef>
                <a:spcPts val="0"/>
              </a:spcBef>
              <a:spcAft>
                <a:spcPts val="0"/>
              </a:spcAft>
              <a:buClr>
                <a:srgbClr val="000000"/>
              </a:buClr>
              <a:buSzPts val="1100"/>
              <a:buFont typeface="Arial"/>
              <a:buAutoNum type="arabicPeriod"/>
            </a:pPr>
            <a:r>
              <a:rPr b="1" lang="fr" sz="1100">
                <a:solidFill>
                  <a:srgbClr val="000000"/>
                </a:solidFill>
                <a:latin typeface="Arial"/>
                <a:ea typeface="Arial"/>
                <a:cs typeface="Arial"/>
                <a:sym typeface="Arial"/>
              </a:rPr>
              <a:t>Données :</a:t>
            </a:r>
            <a:r>
              <a:rPr lang="fr" sz="1100">
                <a:solidFill>
                  <a:srgbClr val="000000"/>
                </a:solidFill>
                <a:latin typeface="Arial"/>
                <a:ea typeface="Arial"/>
                <a:cs typeface="Arial"/>
                <a:sym typeface="Arial"/>
              </a:rPr>
              <a:t> Peuplement de la base </a:t>
            </a:r>
            <a:endParaRPr sz="1100">
              <a:solidFill>
                <a:srgbClr val="000000"/>
              </a:solidFill>
              <a:latin typeface="Arial"/>
              <a:ea typeface="Arial"/>
              <a:cs typeface="Arial"/>
              <a:sym typeface="Arial"/>
            </a:endParaRPr>
          </a:p>
          <a:p>
            <a:pPr indent="-298450" lvl="0" marL="457200" rtl="0" algn="l">
              <a:lnSpc>
                <a:spcPct val="200000"/>
              </a:lnSpc>
              <a:spcBef>
                <a:spcPts val="0"/>
              </a:spcBef>
              <a:spcAft>
                <a:spcPts val="0"/>
              </a:spcAft>
              <a:buClr>
                <a:srgbClr val="000000"/>
              </a:buClr>
              <a:buSzPts val="1100"/>
              <a:buFont typeface="Arial"/>
              <a:buAutoNum type="arabicPeriod"/>
            </a:pPr>
            <a:r>
              <a:rPr b="1" lang="fr" sz="1100">
                <a:solidFill>
                  <a:srgbClr val="000000"/>
                </a:solidFill>
                <a:latin typeface="Arial"/>
                <a:ea typeface="Arial"/>
                <a:cs typeface="Arial"/>
                <a:sym typeface="Arial"/>
              </a:rPr>
              <a:t>Sécurité :</a:t>
            </a:r>
            <a:r>
              <a:rPr lang="fr" sz="1100">
                <a:solidFill>
                  <a:srgbClr val="000000"/>
                </a:solidFill>
                <a:latin typeface="Arial"/>
                <a:ea typeface="Arial"/>
                <a:cs typeface="Arial"/>
                <a:sym typeface="Arial"/>
              </a:rPr>
              <a:t> Création des utilisateurs et droits</a:t>
            </a:r>
            <a:endParaRPr sz="1100">
              <a:solidFill>
                <a:srgbClr val="000000"/>
              </a:solidFill>
              <a:latin typeface="Arial"/>
              <a:ea typeface="Arial"/>
              <a:cs typeface="Arial"/>
              <a:sym typeface="Arial"/>
            </a:endParaRPr>
          </a:p>
          <a:p>
            <a:pPr indent="-298450" lvl="0" marL="457200" rtl="0" algn="l">
              <a:lnSpc>
                <a:spcPct val="200000"/>
              </a:lnSpc>
              <a:spcBef>
                <a:spcPts val="0"/>
              </a:spcBef>
              <a:spcAft>
                <a:spcPts val="0"/>
              </a:spcAft>
              <a:buClr>
                <a:srgbClr val="000000"/>
              </a:buClr>
              <a:buSzPts val="1100"/>
              <a:buFont typeface="Arial"/>
              <a:buAutoNum type="arabicPeriod"/>
            </a:pPr>
            <a:r>
              <a:rPr b="1" lang="fr" sz="1100">
                <a:solidFill>
                  <a:srgbClr val="000000"/>
                </a:solidFill>
                <a:latin typeface="Arial"/>
                <a:ea typeface="Arial"/>
                <a:cs typeface="Arial"/>
                <a:sym typeface="Arial"/>
              </a:rPr>
              <a:t>Analyse :</a:t>
            </a:r>
            <a:r>
              <a:rPr lang="fr" sz="1100">
                <a:solidFill>
                  <a:srgbClr val="000000"/>
                </a:solidFill>
                <a:latin typeface="Arial"/>
                <a:ea typeface="Arial"/>
                <a:cs typeface="Arial"/>
                <a:sym typeface="Arial"/>
              </a:rPr>
              <a:t> Requêtes métier </a:t>
            </a:r>
            <a:endParaRPr sz="1100">
              <a:solidFill>
                <a:srgbClr val="000000"/>
              </a:solidFill>
              <a:latin typeface="Arial"/>
              <a:ea typeface="Arial"/>
              <a:cs typeface="Arial"/>
              <a:sym typeface="Arial"/>
            </a:endParaRPr>
          </a:p>
          <a:p>
            <a:pPr indent="-298450" lvl="0" marL="457200" rtl="0" algn="l">
              <a:lnSpc>
                <a:spcPct val="200000"/>
              </a:lnSpc>
              <a:spcBef>
                <a:spcPts val="0"/>
              </a:spcBef>
              <a:spcAft>
                <a:spcPts val="0"/>
              </a:spcAft>
              <a:buClr>
                <a:srgbClr val="000000"/>
              </a:buClr>
              <a:buSzPts val="1100"/>
              <a:buFont typeface="Arial"/>
              <a:buAutoNum type="arabicPeriod"/>
            </a:pPr>
            <a:r>
              <a:rPr b="1" lang="fr" sz="1100">
                <a:solidFill>
                  <a:srgbClr val="000000"/>
                </a:solidFill>
                <a:latin typeface="Arial"/>
                <a:ea typeface="Arial"/>
                <a:cs typeface="Arial"/>
                <a:sym typeface="Arial"/>
              </a:rPr>
              <a:t>Tests de sécurité :</a:t>
            </a:r>
            <a:r>
              <a:rPr lang="fr" sz="1100">
                <a:solidFill>
                  <a:srgbClr val="000000"/>
                </a:solidFill>
                <a:latin typeface="Arial"/>
                <a:ea typeface="Arial"/>
                <a:cs typeface="Arial"/>
                <a:sym typeface="Arial"/>
              </a:rPr>
              <a:t> Validation des restrictions</a:t>
            </a:r>
            <a:endParaRPr sz="1100">
              <a:solidFill>
                <a:srgbClr val="000000"/>
              </a:solidFill>
              <a:latin typeface="Arial"/>
              <a:ea typeface="Arial"/>
              <a:cs typeface="Arial"/>
              <a:sym typeface="Arial"/>
            </a:endParaRPr>
          </a:p>
          <a:p>
            <a:pPr indent="-298450" lvl="0" marL="457200" rtl="0" algn="l">
              <a:lnSpc>
                <a:spcPct val="200000"/>
              </a:lnSpc>
              <a:spcBef>
                <a:spcPts val="0"/>
              </a:spcBef>
              <a:spcAft>
                <a:spcPts val="0"/>
              </a:spcAft>
              <a:buClr>
                <a:srgbClr val="000000"/>
              </a:buClr>
              <a:buSzPts val="1100"/>
              <a:buFont typeface="Arial"/>
              <a:buAutoNum type="arabicPeriod"/>
            </a:pPr>
            <a:r>
              <a:rPr b="1" lang="fr" sz="1100">
                <a:solidFill>
                  <a:srgbClr val="000000"/>
                </a:solidFill>
                <a:latin typeface="Arial"/>
                <a:ea typeface="Arial"/>
                <a:cs typeface="Arial"/>
                <a:sym typeface="Arial"/>
              </a:rPr>
              <a:t>Exploitation :</a:t>
            </a:r>
            <a:r>
              <a:rPr lang="fr" sz="1100">
                <a:solidFill>
                  <a:srgbClr val="000000"/>
                </a:solidFill>
                <a:latin typeface="Arial"/>
                <a:ea typeface="Arial"/>
                <a:cs typeface="Arial"/>
                <a:sym typeface="Arial"/>
              </a:rPr>
              <a:t> Sauvegarde et Plan de Reprise d'Activité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Étape 1 - Création de l'Infrastructure</a:t>
            </a:r>
            <a:endParaRPr/>
          </a:p>
        </p:txBody>
      </p:sp>
      <p:sp>
        <p:nvSpPr>
          <p:cNvPr id="291" name="Google Shape;291;p15"/>
          <p:cNvSpPr txBox="1"/>
          <p:nvPr>
            <p:ph idx="1" type="body"/>
          </p:nvPr>
        </p:nvSpPr>
        <p:spPr>
          <a:xfrm>
            <a:off x="483800" y="1597875"/>
            <a:ext cx="4293000" cy="116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fr"/>
              <a:t>Commande taper :</a:t>
            </a:r>
            <a:r>
              <a:rPr lang="fr" sz="1200"/>
              <a:t> CREATE DATABASE GestionStock CHARACTER SET utf8mb4 COLLATE utf8mb4_unicode_ci; USE GestionStock;</a:t>
            </a:r>
            <a:endParaRPr sz="1200"/>
          </a:p>
        </p:txBody>
      </p:sp>
      <p:sp>
        <p:nvSpPr>
          <p:cNvPr id="292" name="Google Shape;292;p15"/>
          <p:cNvSpPr txBox="1"/>
          <p:nvPr>
            <p:ph idx="2" type="body"/>
          </p:nvPr>
        </p:nvSpPr>
        <p:spPr>
          <a:xfrm>
            <a:off x="5542425" y="1597875"/>
            <a:ext cx="3182100" cy="179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La première étape consiste à initialiser l'espace de stockage. Nous avons choisi l'encodage utf8mb4 pour garantir la compatibilité avec tous les caractères modernes , ce qui est une bonne pratique standard aujourd'hui.</a:t>
            </a:r>
            <a:endParaRPr/>
          </a:p>
        </p:txBody>
      </p:sp>
      <p:pic>
        <p:nvPicPr>
          <p:cNvPr id="293" name="Google Shape;293;p15"/>
          <p:cNvPicPr preferRelativeResize="0"/>
          <p:nvPr/>
        </p:nvPicPr>
        <p:blipFill>
          <a:blip r:embed="rId3">
            <a:alphaModFix/>
          </a:blip>
          <a:stretch>
            <a:fillRect/>
          </a:stretch>
        </p:blipFill>
        <p:spPr>
          <a:xfrm>
            <a:off x="381000" y="3395175"/>
            <a:ext cx="8382000" cy="1171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Étape 2 - Modélisation (Tables)</a:t>
            </a:r>
            <a:endParaRPr/>
          </a:p>
        </p:txBody>
      </p:sp>
      <p:sp>
        <p:nvSpPr>
          <p:cNvPr id="299" name="Google Shape;299;p16"/>
          <p:cNvSpPr txBox="1"/>
          <p:nvPr>
            <p:ph idx="1" type="body"/>
          </p:nvPr>
        </p:nvSpPr>
        <p:spPr>
          <a:xfrm>
            <a:off x="348000" y="1528950"/>
            <a:ext cx="3810900" cy="2085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SzPts val="605"/>
              <a:buNone/>
            </a:pPr>
            <a:r>
              <a:rPr lang="fr" sz="860"/>
              <a:t>-- Création de la table mère (Types)</a:t>
            </a:r>
            <a:endParaRPr sz="860"/>
          </a:p>
          <a:p>
            <a:pPr indent="0" lvl="0" marL="0" rtl="0" algn="l">
              <a:lnSpc>
                <a:spcPct val="95000"/>
              </a:lnSpc>
              <a:spcBef>
                <a:spcPts val="1200"/>
              </a:spcBef>
              <a:spcAft>
                <a:spcPts val="0"/>
              </a:spcAft>
              <a:buSzPts val="605"/>
              <a:buNone/>
            </a:pPr>
            <a:r>
              <a:rPr lang="fr" sz="860"/>
              <a:t>CREATE TABLE typeProduit (id INT AUTO_INCREMENT PRIMARY KEY, nom VARCHAR(100));</a:t>
            </a:r>
            <a:endParaRPr sz="860"/>
          </a:p>
          <a:p>
            <a:pPr indent="0" lvl="0" marL="0" rtl="0" algn="l">
              <a:lnSpc>
                <a:spcPct val="95000"/>
              </a:lnSpc>
              <a:spcBef>
                <a:spcPts val="1200"/>
              </a:spcBef>
              <a:spcAft>
                <a:spcPts val="0"/>
              </a:spcAft>
              <a:buSzPts val="605"/>
              <a:buNone/>
            </a:pPr>
            <a:r>
              <a:rPr lang="fr" sz="860"/>
              <a:t>-- Création de la table fille (Produits) avec liaison</a:t>
            </a:r>
            <a:endParaRPr sz="860"/>
          </a:p>
          <a:p>
            <a:pPr indent="0" lvl="0" marL="0" rtl="0" algn="l">
              <a:lnSpc>
                <a:spcPct val="95000"/>
              </a:lnSpc>
              <a:spcBef>
                <a:spcPts val="1200"/>
              </a:spcBef>
              <a:spcAft>
                <a:spcPts val="1200"/>
              </a:spcAft>
              <a:buSzPts val="605"/>
              <a:buNone/>
            </a:pPr>
            <a:r>
              <a:rPr lang="fr" sz="860"/>
              <a:t>CREATE TABLE produit (id INT AUTO_INCREMENT PRIMARY KEY, ..., type_id INT, CONSTRAINT fk_produit_type FOREIGN KEY (type_id) REFERENCES typeProduit(id));</a:t>
            </a:r>
            <a:endParaRPr sz="860"/>
          </a:p>
        </p:txBody>
      </p:sp>
      <p:sp>
        <p:nvSpPr>
          <p:cNvPr id="300" name="Google Shape;300;p16"/>
          <p:cNvSpPr txBox="1"/>
          <p:nvPr>
            <p:ph idx="2" type="body"/>
          </p:nvPr>
        </p:nvSpPr>
        <p:spPr>
          <a:xfrm>
            <a:off x="1303800" y="3997700"/>
            <a:ext cx="75369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Nous structurons les données en deux tables principales. La contrainte de clé étrangère assure l'intégrité référentielle : il est impossible de créer un produit lié à un type qui n'existe pas.</a:t>
            </a:r>
            <a:endParaRPr/>
          </a:p>
        </p:txBody>
      </p:sp>
      <p:pic>
        <p:nvPicPr>
          <p:cNvPr id="301" name="Google Shape;301;p16"/>
          <p:cNvPicPr preferRelativeResize="0"/>
          <p:nvPr/>
        </p:nvPicPr>
        <p:blipFill rotWithShape="1">
          <a:blip r:embed="rId3">
            <a:alphaModFix/>
          </a:blip>
          <a:srcRect b="0" l="0" r="2562" t="0"/>
          <a:stretch/>
        </p:blipFill>
        <p:spPr>
          <a:xfrm>
            <a:off x="4236750" y="1460000"/>
            <a:ext cx="4692225" cy="222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Étape 3 - Peuplement (Jeu de données)</a:t>
            </a:r>
            <a:endParaRPr/>
          </a:p>
        </p:txBody>
      </p:sp>
      <p:sp>
        <p:nvSpPr>
          <p:cNvPr id="307" name="Google Shape;307;p17"/>
          <p:cNvSpPr txBox="1"/>
          <p:nvPr>
            <p:ph idx="1" type="body"/>
          </p:nvPr>
        </p:nvSpPr>
        <p:spPr>
          <a:xfrm>
            <a:off x="492275" y="1597875"/>
            <a:ext cx="4293000" cy="1805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SzPts val="605"/>
              <a:buNone/>
            </a:pPr>
            <a:r>
              <a:rPr lang="fr" sz="860"/>
              <a:t>-- Insertion des 5 types</a:t>
            </a:r>
            <a:endParaRPr sz="860"/>
          </a:p>
          <a:p>
            <a:pPr indent="0" lvl="0" marL="0" rtl="0" algn="l">
              <a:lnSpc>
                <a:spcPct val="95000"/>
              </a:lnSpc>
              <a:spcBef>
                <a:spcPts val="1200"/>
              </a:spcBef>
              <a:spcAft>
                <a:spcPts val="0"/>
              </a:spcAft>
              <a:buSzPts val="605"/>
              <a:buNone/>
            </a:pPr>
            <a:r>
              <a:rPr lang="fr" sz="860"/>
              <a:t>INSERT INTO typeProduit (nom) VALUES ('Alimentation'), ('Périphérique'), ...;</a:t>
            </a:r>
            <a:endParaRPr sz="860"/>
          </a:p>
          <a:p>
            <a:pPr indent="0" lvl="0" marL="0" rtl="0" algn="l">
              <a:lnSpc>
                <a:spcPct val="95000"/>
              </a:lnSpc>
              <a:spcBef>
                <a:spcPts val="1200"/>
              </a:spcBef>
              <a:spcAft>
                <a:spcPts val="0"/>
              </a:spcAft>
              <a:buSzPts val="605"/>
              <a:buNone/>
            </a:pPr>
            <a:r>
              <a:rPr lang="fr" sz="860"/>
              <a:t>-- Insertion des 20 produits</a:t>
            </a:r>
            <a:endParaRPr sz="860"/>
          </a:p>
          <a:p>
            <a:pPr indent="0" lvl="0" marL="0" rtl="0" algn="l">
              <a:lnSpc>
                <a:spcPct val="95000"/>
              </a:lnSpc>
              <a:spcBef>
                <a:spcPts val="1200"/>
              </a:spcBef>
              <a:spcAft>
                <a:spcPts val="1200"/>
              </a:spcAft>
              <a:buSzPts val="605"/>
              <a:buNone/>
            </a:pPr>
            <a:r>
              <a:rPr lang="fr" sz="860"/>
              <a:t>INSERT INTO produit (nom, stock, prix, type_id) VALUES ('Souris optique', 30, 12.50, 2), ...;</a:t>
            </a:r>
            <a:endParaRPr sz="860"/>
          </a:p>
        </p:txBody>
      </p:sp>
      <p:sp>
        <p:nvSpPr>
          <p:cNvPr id="308" name="Google Shape;308;p17"/>
          <p:cNvSpPr txBox="1"/>
          <p:nvPr>
            <p:ph idx="2" type="body"/>
          </p:nvPr>
        </p:nvSpPr>
        <p:spPr>
          <a:xfrm>
            <a:off x="5008925" y="1517400"/>
            <a:ext cx="3624900" cy="141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Pour simuler un environnement de production réel, nous injectons un jeu d'essai complet comprenant 5 catégories et 20 références produits distinctes. Cela nous permettra de tester nos requêtes statistiques.</a:t>
            </a:r>
            <a:endParaRPr/>
          </a:p>
        </p:txBody>
      </p:sp>
      <p:pic>
        <p:nvPicPr>
          <p:cNvPr id="309" name="Google Shape;309;p17"/>
          <p:cNvPicPr preferRelativeResize="0"/>
          <p:nvPr/>
        </p:nvPicPr>
        <p:blipFill>
          <a:blip r:embed="rId3">
            <a:alphaModFix/>
          </a:blip>
          <a:stretch>
            <a:fillRect/>
          </a:stretch>
        </p:blipFill>
        <p:spPr>
          <a:xfrm>
            <a:off x="4761850" y="2931000"/>
            <a:ext cx="3871850" cy="1083325"/>
          </a:xfrm>
          <a:prstGeom prst="rect">
            <a:avLst/>
          </a:prstGeom>
          <a:noFill/>
          <a:ln>
            <a:noFill/>
          </a:ln>
        </p:spPr>
      </p:pic>
      <p:pic>
        <p:nvPicPr>
          <p:cNvPr id="310" name="Google Shape;310;p17"/>
          <p:cNvPicPr preferRelativeResize="0"/>
          <p:nvPr/>
        </p:nvPicPr>
        <p:blipFill>
          <a:blip r:embed="rId4">
            <a:alphaModFix/>
          </a:blip>
          <a:stretch>
            <a:fillRect/>
          </a:stretch>
        </p:blipFill>
        <p:spPr>
          <a:xfrm>
            <a:off x="510275" y="4014325"/>
            <a:ext cx="8123431" cy="999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Étape 4 - Configuration de la Sécurité</a:t>
            </a:r>
            <a:endParaRPr/>
          </a:p>
        </p:txBody>
      </p:sp>
      <p:sp>
        <p:nvSpPr>
          <p:cNvPr id="316" name="Google Shape;316;p18"/>
          <p:cNvSpPr txBox="1"/>
          <p:nvPr>
            <p:ph idx="1" type="body"/>
          </p:nvPr>
        </p:nvSpPr>
        <p:spPr>
          <a:xfrm>
            <a:off x="381925" y="1579800"/>
            <a:ext cx="4532400" cy="2447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SzPts val="605"/>
              <a:buNone/>
            </a:pPr>
            <a:r>
              <a:rPr lang="fr" sz="860"/>
              <a:t>-- Admin App (Tous droits)</a:t>
            </a:r>
            <a:endParaRPr sz="860"/>
          </a:p>
          <a:p>
            <a:pPr indent="0" lvl="0" marL="0" rtl="0" algn="l">
              <a:lnSpc>
                <a:spcPct val="95000"/>
              </a:lnSpc>
              <a:spcBef>
                <a:spcPts val="1200"/>
              </a:spcBef>
              <a:spcAft>
                <a:spcPts val="0"/>
              </a:spcAft>
              <a:buSzPts val="605"/>
              <a:buNone/>
            </a:pPr>
            <a:r>
              <a:rPr lang="fr" sz="860"/>
              <a:t>CREATE USER 'admin_app'@'localhost' IDENTIFIED BY '...'; GRANT ALL ...;</a:t>
            </a:r>
            <a:endParaRPr sz="860"/>
          </a:p>
          <a:p>
            <a:pPr indent="0" lvl="0" marL="0" rtl="0" algn="l">
              <a:lnSpc>
                <a:spcPct val="95000"/>
              </a:lnSpc>
              <a:spcBef>
                <a:spcPts val="1200"/>
              </a:spcBef>
              <a:spcAft>
                <a:spcPts val="0"/>
              </a:spcAft>
              <a:buSzPts val="605"/>
              <a:buNone/>
            </a:pPr>
            <a:r>
              <a:rPr lang="fr" sz="860"/>
              <a:t>-- Lecteur (Lecture seule)</a:t>
            </a:r>
            <a:endParaRPr sz="860"/>
          </a:p>
          <a:p>
            <a:pPr indent="0" lvl="0" marL="0" rtl="0" algn="l">
              <a:lnSpc>
                <a:spcPct val="95000"/>
              </a:lnSpc>
              <a:spcBef>
                <a:spcPts val="1200"/>
              </a:spcBef>
              <a:spcAft>
                <a:spcPts val="0"/>
              </a:spcAft>
              <a:buSzPts val="605"/>
              <a:buNone/>
            </a:pPr>
            <a:r>
              <a:rPr lang="fr" sz="860"/>
              <a:t>CREATE USER 'lecteur'@'localhost' IDENTIFIED BY '...'; GRANT SELECT ...;</a:t>
            </a:r>
            <a:endParaRPr sz="860"/>
          </a:p>
          <a:p>
            <a:pPr indent="0" lvl="0" marL="0" rtl="0" algn="l">
              <a:lnSpc>
                <a:spcPct val="95000"/>
              </a:lnSpc>
              <a:spcBef>
                <a:spcPts val="1200"/>
              </a:spcBef>
              <a:spcAft>
                <a:spcPts val="0"/>
              </a:spcAft>
              <a:buSzPts val="605"/>
              <a:buNone/>
            </a:pPr>
            <a:r>
              <a:rPr lang="fr" sz="860"/>
              <a:t>-- API User (Restreint IP + DML)</a:t>
            </a:r>
            <a:endParaRPr sz="860"/>
          </a:p>
          <a:p>
            <a:pPr indent="0" lvl="0" marL="0" rtl="0" algn="l">
              <a:lnSpc>
                <a:spcPct val="95000"/>
              </a:lnSpc>
              <a:spcBef>
                <a:spcPts val="1200"/>
              </a:spcBef>
              <a:spcAft>
                <a:spcPts val="0"/>
              </a:spcAft>
              <a:buSzPts val="605"/>
              <a:buNone/>
            </a:pPr>
            <a:r>
              <a:rPr lang="fr" sz="860"/>
              <a:t>CREATE USER 'api_user'@'127.0.0.1' ...; GRANT SELECT, INSERT, UPDATE ...;</a:t>
            </a:r>
            <a:endParaRPr sz="860"/>
          </a:p>
          <a:p>
            <a:pPr indent="0" lvl="0" marL="0" rtl="0" algn="l">
              <a:lnSpc>
                <a:spcPct val="95000"/>
              </a:lnSpc>
              <a:spcBef>
                <a:spcPts val="1200"/>
              </a:spcBef>
              <a:spcAft>
                <a:spcPts val="1200"/>
              </a:spcAft>
              <a:buSzPts val="605"/>
              <a:buNone/>
            </a:pPr>
            <a:r>
              <a:rPr lang="fr" sz="860"/>
              <a:t>FLUSH PRIVILEGES;</a:t>
            </a:r>
            <a:endParaRPr sz="860"/>
          </a:p>
        </p:txBody>
      </p:sp>
      <p:sp>
        <p:nvSpPr>
          <p:cNvPr id="317" name="Google Shape;317;p18"/>
          <p:cNvSpPr txBox="1"/>
          <p:nvPr>
            <p:ph idx="2" type="body"/>
          </p:nvPr>
        </p:nvSpPr>
        <p:spPr>
          <a:xfrm>
            <a:off x="1317000" y="4077900"/>
            <a:ext cx="6510000" cy="106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Au lieu d'utiliser le compte root (dangereux), nous segmentons les accès. Un profil 'Lecteur' pour le reporting, et un profil 'API' restreint à l'IP locale pour l'application, limitant ainsi la surface d'attaque.</a:t>
            </a:r>
            <a:endParaRPr/>
          </a:p>
        </p:txBody>
      </p:sp>
      <p:pic>
        <p:nvPicPr>
          <p:cNvPr id="318" name="Google Shape;318;p18"/>
          <p:cNvPicPr preferRelativeResize="0"/>
          <p:nvPr/>
        </p:nvPicPr>
        <p:blipFill>
          <a:blip r:embed="rId3">
            <a:alphaModFix/>
          </a:blip>
          <a:stretch>
            <a:fillRect/>
          </a:stretch>
        </p:blipFill>
        <p:spPr>
          <a:xfrm>
            <a:off x="4504100" y="1579800"/>
            <a:ext cx="4532401" cy="22761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Analyse Métier (Requêtes SQL)</a:t>
            </a:r>
            <a:endParaRPr/>
          </a:p>
        </p:txBody>
      </p:sp>
      <p:sp>
        <p:nvSpPr>
          <p:cNvPr id="324" name="Google Shape;324;p19"/>
          <p:cNvSpPr txBox="1"/>
          <p:nvPr>
            <p:ph idx="1" type="body"/>
          </p:nvPr>
        </p:nvSpPr>
        <p:spPr>
          <a:xfrm>
            <a:off x="492275" y="1597875"/>
            <a:ext cx="4557900" cy="1805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None/>
            </a:pPr>
            <a:r>
              <a:rPr lang="fr" sz="860"/>
              <a:t>SELECT t.nom, COUNT(p.id) FROM produit p JOIN typeProduit t ... GROUP BY t.nom;</a:t>
            </a:r>
            <a:endParaRPr sz="860"/>
          </a:p>
          <a:p>
            <a:pPr indent="0" lvl="0" marL="0" rtl="0" algn="l">
              <a:lnSpc>
                <a:spcPct val="95000"/>
              </a:lnSpc>
              <a:spcBef>
                <a:spcPts val="1200"/>
              </a:spcBef>
              <a:spcAft>
                <a:spcPts val="0"/>
              </a:spcAft>
              <a:buNone/>
            </a:pPr>
            <a:r>
              <a:rPr lang="fr" sz="860"/>
              <a:t>SELECT SUM(prix * stock) FROM produit;</a:t>
            </a:r>
            <a:endParaRPr sz="860"/>
          </a:p>
          <a:p>
            <a:pPr indent="0" lvl="0" marL="0" rtl="0" algn="l">
              <a:lnSpc>
                <a:spcPct val="95000"/>
              </a:lnSpc>
              <a:spcBef>
                <a:spcPts val="1200"/>
              </a:spcBef>
              <a:spcAft>
                <a:spcPts val="1200"/>
              </a:spcAft>
              <a:buSzPts val="605"/>
              <a:buNone/>
            </a:pPr>
            <a:r>
              <a:t/>
            </a:r>
            <a:endParaRPr sz="860"/>
          </a:p>
        </p:txBody>
      </p:sp>
      <p:sp>
        <p:nvSpPr>
          <p:cNvPr id="325" name="Google Shape;325;p19"/>
          <p:cNvSpPr txBox="1"/>
          <p:nvPr>
            <p:ph idx="2" type="body"/>
          </p:nvPr>
        </p:nvSpPr>
        <p:spPr>
          <a:xfrm>
            <a:off x="5576350" y="1597875"/>
            <a:ext cx="3122700" cy="1770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La base est opérationnelle. Ces requêtes métier nous permettent de suivre l'inventaire en temps réel (quantité par famille) et de connaître la valorisation financière du stock .</a:t>
            </a:r>
            <a:endParaRPr/>
          </a:p>
        </p:txBody>
      </p:sp>
      <p:pic>
        <p:nvPicPr>
          <p:cNvPr id="326" name="Google Shape;326;p19"/>
          <p:cNvPicPr preferRelativeResize="0"/>
          <p:nvPr/>
        </p:nvPicPr>
        <p:blipFill>
          <a:blip r:embed="rId3">
            <a:alphaModFix/>
          </a:blip>
          <a:stretch>
            <a:fillRect/>
          </a:stretch>
        </p:blipFill>
        <p:spPr>
          <a:xfrm>
            <a:off x="623725" y="3367875"/>
            <a:ext cx="7896555" cy="1435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Test Sécurité - Profil Lecteur</a:t>
            </a:r>
            <a:endParaRPr/>
          </a:p>
        </p:txBody>
      </p:sp>
      <p:sp>
        <p:nvSpPr>
          <p:cNvPr id="332" name="Google Shape;332;p20"/>
          <p:cNvSpPr txBox="1"/>
          <p:nvPr>
            <p:ph idx="1" type="body"/>
          </p:nvPr>
        </p:nvSpPr>
        <p:spPr>
          <a:xfrm>
            <a:off x="492275" y="1597875"/>
            <a:ext cx="4557900" cy="1805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None/>
            </a:pPr>
            <a:r>
              <a:rPr lang="fr" sz="860"/>
              <a:t>.\mysql.exe -u lecteur -p</a:t>
            </a:r>
            <a:endParaRPr sz="860"/>
          </a:p>
          <a:p>
            <a:pPr indent="0" lvl="0" marL="0" rtl="0" algn="l">
              <a:lnSpc>
                <a:spcPct val="95000"/>
              </a:lnSpc>
              <a:spcBef>
                <a:spcPts val="1200"/>
              </a:spcBef>
              <a:spcAft>
                <a:spcPts val="0"/>
              </a:spcAft>
              <a:buNone/>
            </a:pPr>
            <a:r>
              <a:rPr lang="fr" sz="860"/>
              <a:t>SELECT * FROM produit; -- OK</a:t>
            </a:r>
            <a:endParaRPr sz="860"/>
          </a:p>
          <a:p>
            <a:pPr indent="0" lvl="0" marL="0" rtl="0" algn="l">
              <a:lnSpc>
                <a:spcPct val="95000"/>
              </a:lnSpc>
              <a:spcBef>
                <a:spcPts val="1200"/>
              </a:spcBef>
              <a:spcAft>
                <a:spcPts val="0"/>
              </a:spcAft>
              <a:buNone/>
            </a:pPr>
            <a:r>
              <a:rPr lang="fr" sz="860"/>
              <a:t>INSERT INTO produit ...; -- KO</a:t>
            </a:r>
            <a:endParaRPr sz="860"/>
          </a:p>
          <a:p>
            <a:pPr indent="0" lvl="0" marL="0" rtl="0" algn="l">
              <a:lnSpc>
                <a:spcPct val="95000"/>
              </a:lnSpc>
              <a:spcBef>
                <a:spcPts val="1200"/>
              </a:spcBef>
              <a:spcAft>
                <a:spcPts val="1200"/>
              </a:spcAft>
              <a:buSzPts val="605"/>
              <a:buNone/>
            </a:pPr>
            <a:r>
              <a:t/>
            </a:r>
            <a:endParaRPr sz="860"/>
          </a:p>
        </p:txBody>
      </p:sp>
      <p:sp>
        <p:nvSpPr>
          <p:cNvPr id="333" name="Google Shape;333;p20"/>
          <p:cNvSpPr txBox="1"/>
          <p:nvPr>
            <p:ph idx="2" type="body"/>
          </p:nvPr>
        </p:nvSpPr>
        <p:spPr>
          <a:xfrm>
            <a:off x="288525" y="2955900"/>
            <a:ext cx="3122700" cy="1770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Nous validons ici la robustesse des droits : le stagiaire peut consulter le catalogue, mais toute tentative de modification (INSERT) est immédiatement bloquée par le moteur de base de données.</a:t>
            </a:r>
            <a:endParaRPr/>
          </a:p>
        </p:txBody>
      </p:sp>
      <p:pic>
        <p:nvPicPr>
          <p:cNvPr id="334" name="Google Shape;334;p20"/>
          <p:cNvPicPr preferRelativeResize="0"/>
          <p:nvPr/>
        </p:nvPicPr>
        <p:blipFill>
          <a:blip r:embed="rId3">
            <a:alphaModFix/>
          </a:blip>
          <a:stretch>
            <a:fillRect/>
          </a:stretch>
        </p:blipFill>
        <p:spPr>
          <a:xfrm>
            <a:off x="3843725" y="1349525"/>
            <a:ext cx="5176350" cy="36072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Test Sécurité - Profil API</a:t>
            </a:r>
            <a:endParaRPr/>
          </a:p>
        </p:txBody>
      </p:sp>
      <p:sp>
        <p:nvSpPr>
          <p:cNvPr id="340" name="Google Shape;340;p21"/>
          <p:cNvSpPr txBox="1"/>
          <p:nvPr>
            <p:ph idx="1" type="body"/>
          </p:nvPr>
        </p:nvSpPr>
        <p:spPr>
          <a:xfrm>
            <a:off x="492275" y="1597875"/>
            <a:ext cx="4557900" cy="1805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None/>
            </a:pPr>
            <a:r>
              <a:rPr lang="fr" sz="860"/>
              <a:t>.\mysql.exe -u api_user -p -h 127.0.0.1</a:t>
            </a:r>
            <a:endParaRPr sz="860"/>
          </a:p>
          <a:p>
            <a:pPr indent="0" lvl="0" marL="0" rtl="0" algn="l">
              <a:lnSpc>
                <a:spcPct val="95000"/>
              </a:lnSpc>
              <a:spcBef>
                <a:spcPts val="1200"/>
              </a:spcBef>
              <a:spcAft>
                <a:spcPts val="0"/>
              </a:spcAft>
              <a:buNone/>
            </a:pPr>
            <a:r>
              <a:rPr lang="fr" sz="860"/>
              <a:t>UPDATE produit SET stock ...; -- OK</a:t>
            </a:r>
            <a:endParaRPr sz="860"/>
          </a:p>
          <a:p>
            <a:pPr indent="0" lvl="0" marL="0" rtl="0" algn="l">
              <a:lnSpc>
                <a:spcPct val="95000"/>
              </a:lnSpc>
              <a:spcBef>
                <a:spcPts val="1200"/>
              </a:spcBef>
              <a:spcAft>
                <a:spcPts val="0"/>
              </a:spcAft>
              <a:buNone/>
            </a:pPr>
            <a:r>
              <a:rPr lang="fr" sz="860"/>
              <a:t>ALTER TABLE produit ...; -- KO</a:t>
            </a:r>
            <a:endParaRPr sz="860"/>
          </a:p>
          <a:p>
            <a:pPr indent="0" lvl="0" marL="0" rtl="0" algn="l">
              <a:lnSpc>
                <a:spcPct val="95000"/>
              </a:lnSpc>
              <a:spcBef>
                <a:spcPts val="1200"/>
              </a:spcBef>
              <a:spcAft>
                <a:spcPts val="0"/>
              </a:spcAft>
              <a:buNone/>
            </a:pPr>
            <a:r>
              <a:t/>
            </a:r>
            <a:endParaRPr sz="860"/>
          </a:p>
          <a:p>
            <a:pPr indent="0" lvl="0" marL="0" rtl="0" algn="l">
              <a:lnSpc>
                <a:spcPct val="95000"/>
              </a:lnSpc>
              <a:spcBef>
                <a:spcPts val="1200"/>
              </a:spcBef>
              <a:spcAft>
                <a:spcPts val="1200"/>
              </a:spcAft>
              <a:buSzPts val="605"/>
              <a:buNone/>
            </a:pPr>
            <a:r>
              <a:t/>
            </a:r>
            <a:endParaRPr sz="860"/>
          </a:p>
        </p:txBody>
      </p:sp>
      <p:sp>
        <p:nvSpPr>
          <p:cNvPr id="341" name="Google Shape;341;p21"/>
          <p:cNvSpPr txBox="1"/>
          <p:nvPr>
            <p:ph idx="2" type="body"/>
          </p:nvPr>
        </p:nvSpPr>
        <p:spPr>
          <a:xfrm>
            <a:off x="4150425" y="1597875"/>
            <a:ext cx="4456200" cy="1169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200"/>
              <a:t>L'application a bien le droit de mettre à jour les stocks (UPDATE), ce qui est vital pour son fonctionnement. En revanche, elle ne peut pas altérer la structure de la base (ALTER), ce qui protège contre les injections SQL destructrices.</a:t>
            </a:r>
            <a:endParaRPr sz="1200"/>
          </a:p>
        </p:txBody>
      </p:sp>
      <p:pic>
        <p:nvPicPr>
          <p:cNvPr id="342" name="Google Shape;342;p21"/>
          <p:cNvPicPr preferRelativeResize="0"/>
          <p:nvPr/>
        </p:nvPicPr>
        <p:blipFill>
          <a:blip r:embed="rId3">
            <a:alphaModFix/>
          </a:blip>
          <a:stretch>
            <a:fillRect/>
          </a:stretch>
        </p:blipFill>
        <p:spPr>
          <a:xfrm>
            <a:off x="1485325" y="2919700"/>
            <a:ext cx="5783839" cy="2028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Exploitation - Sauvegarde &amp; Crash</a:t>
            </a:r>
            <a:endParaRPr/>
          </a:p>
        </p:txBody>
      </p:sp>
      <p:sp>
        <p:nvSpPr>
          <p:cNvPr id="348" name="Google Shape;348;p22"/>
          <p:cNvSpPr txBox="1"/>
          <p:nvPr>
            <p:ph idx="1" type="body"/>
          </p:nvPr>
        </p:nvSpPr>
        <p:spPr>
          <a:xfrm>
            <a:off x="492275" y="1597875"/>
            <a:ext cx="4557900" cy="1805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None/>
            </a:pPr>
            <a:r>
              <a:rPr lang="fr" sz="860"/>
              <a:t>-- Sauvegarde</a:t>
            </a:r>
            <a:endParaRPr sz="860"/>
          </a:p>
          <a:p>
            <a:pPr indent="0" lvl="0" marL="0" rtl="0" algn="l">
              <a:lnSpc>
                <a:spcPct val="95000"/>
              </a:lnSpc>
              <a:spcBef>
                <a:spcPts val="1200"/>
              </a:spcBef>
              <a:spcAft>
                <a:spcPts val="0"/>
              </a:spcAft>
              <a:buNone/>
            </a:pPr>
            <a:r>
              <a:rPr lang="fr" sz="860"/>
              <a:t>.\mysqldump.exe -u admin_app -p GestionStock &gt; backup.sql</a:t>
            </a:r>
            <a:endParaRPr sz="860"/>
          </a:p>
          <a:p>
            <a:pPr indent="0" lvl="0" marL="0" rtl="0" algn="l">
              <a:lnSpc>
                <a:spcPct val="95000"/>
              </a:lnSpc>
              <a:spcBef>
                <a:spcPts val="1200"/>
              </a:spcBef>
              <a:spcAft>
                <a:spcPts val="0"/>
              </a:spcAft>
              <a:buNone/>
            </a:pPr>
            <a:r>
              <a:rPr lang="fr" sz="860"/>
              <a:t>-- Sabotage</a:t>
            </a:r>
            <a:endParaRPr sz="860"/>
          </a:p>
          <a:p>
            <a:pPr indent="0" lvl="0" marL="0" rtl="0" algn="l">
              <a:lnSpc>
                <a:spcPct val="95000"/>
              </a:lnSpc>
              <a:spcBef>
                <a:spcPts val="1200"/>
              </a:spcBef>
              <a:spcAft>
                <a:spcPts val="0"/>
              </a:spcAft>
              <a:buNone/>
            </a:pPr>
            <a:r>
              <a:rPr lang="fr" sz="860"/>
              <a:t>DROP TABLE produit;</a:t>
            </a:r>
            <a:endParaRPr sz="860"/>
          </a:p>
          <a:p>
            <a:pPr indent="0" lvl="0" marL="0" rtl="0" algn="l">
              <a:lnSpc>
                <a:spcPct val="95000"/>
              </a:lnSpc>
              <a:spcBef>
                <a:spcPts val="1200"/>
              </a:spcBef>
              <a:spcAft>
                <a:spcPts val="0"/>
              </a:spcAft>
              <a:buNone/>
            </a:pPr>
            <a:r>
              <a:t/>
            </a:r>
            <a:endParaRPr sz="860"/>
          </a:p>
          <a:p>
            <a:pPr indent="0" lvl="0" marL="0" rtl="0" algn="l">
              <a:lnSpc>
                <a:spcPct val="95000"/>
              </a:lnSpc>
              <a:spcBef>
                <a:spcPts val="1200"/>
              </a:spcBef>
              <a:spcAft>
                <a:spcPts val="0"/>
              </a:spcAft>
              <a:buNone/>
            </a:pPr>
            <a:r>
              <a:t/>
            </a:r>
            <a:endParaRPr sz="860"/>
          </a:p>
          <a:p>
            <a:pPr indent="0" lvl="0" marL="0" rtl="0" algn="l">
              <a:lnSpc>
                <a:spcPct val="95000"/>
              </a:lnSpc>
              <a:spcBef>
                <a:spcPts val="1200"/>
              </a:spcBef>
              <a:spcAft>
                <a:spcPts val="1200"/>
              </a:spcAft>
              <a:buSzPts val="605"/>
              <a:buNone/>
            </a:pPr>
            <a:r>
              <a:t/>
            </a:r>
            <a:endParaRPr sz="860"/>
          </a:p>
        </p:txBody>
      </p:sp>
      <p:sp>
        <p:nvSpPr>
          <p:cNvPr id="349" name="Google Shape;349;p22"/>
          <p:cNvSpPr txBox="1"/>
          <p:nvPr>
            <p:ph idx="2" type="body"/>
          </p:nvPr>
        </p:nvSpPr>
        <p:spPr>
          <a:xfrm>
            <a:off x="5279300" y="1597875"/>
            <a:ext cx="3624300" cy="1770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200"/>
              <a:t>Nous avons mis en place une sauvegarde automatique via mysqldump. Pour prouver son utilité, nous simulons le pire scénario possible : la suppression accidentelle de la table principale 'produit'.</a:t>
            </a:r>
            <a:endParaRPr sz="1200"/>
          </a:p>
        </p:txBody>
      </p:sp>
      <p:pic>
        <p:nvPicPr>
          <p:cNvPr id="350" name="Google Shape;350;p22"/>
          <p:cNvPicPr preferRelativeResize="0"/>
          <p:nvPr/>
        </p:nvPicPr>
        <p:blipFill>
          <a:blip r:embed="rId3">
            <a:alphaModFix/>
          </a:blip>
          <a:stretch>
            <a:fillRect/>
          </a:stretch>
        </p:blipFill>
        <p:spPr>
          <a:xfrm>
            <a:off x="2226663" y="2800900"/>
            <a:ext cx="4690674" cy="2184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Exploitation - Restauration (PRA)</a:t>
            </a:r>
            <a:endParaRPr/>
          </a:p>
        </p:txBody>
      </p:sp>
      <p:sp>
        <p:nvSpPr>
          <p:cNvPr id="356" name="Google Shape;356;p23"/>
          <p:cNvSpPr txBox="1"/>
          <p:nvPr>
            <p:ph idx="1" type="body"/>
          </p:nvPr>
        </p:nvSpPr>
        <p:spPr>
          <a:xfrm>
            <a:off x="492275" y="1597875"/>
            <a:ext cx="4557900" cy="1805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fr" sz="1115"/>
              <a:t>Commande taper :</a:t>
            </a:r>
            <a:r>
              <a:rPr lang="fr" sz="1060"/>
              <a:t> </a:t>
            </a:r>
            <a:endParaRPr sz="1060"/>
          </a:p>
          <a:p>
            <a:pPr indent="0" lvl="0" marL="0" rtl="0" algn="l">
              <a:lnSpc>
                <a:spcPct val="95000"/>
              </a:lnSpc>
              <a:spcBef>
                <a:spcPts val="1200"/>
              </a:spcBef>
              <a:spcAft>
                <a:spcPts val="0"/>
              </a:spcAft>
              <a:buNone/>
            </a:pPr>
            <a:r>
              <a:rPr lang="fr" sz="860"/>
              <a:t>Get-Content backup.sql | .\mysql.exe -u admin_app -p GestionStock</a:t>
            </a:r>
            <a:endParaRPr sz="860"/>
          </a:p>
          <a:p>
            <a:pPr indent="0" lvl="0" marL="0" rtl="0" algn="l">
              <a:lnSpc>
                <a:spcPct val="95000"/>
              </a:lnSpc>
              <a:spcBef>
                <a:spcPts val="1200"/>
              </a:spcBef>
              <a:spcAft>
                <a:spcPts val="0"/>
              </a:spcAft>
              <a:buNone/>
            </a:pPr>
            <a:r>
              <a:rPr lang="fr" sz="860"/>
              <a:t>SELECT COUNT(*) FROM produit;</a:t>
            </a:r>
            <a:endParaRPr sz="860"/>
          </a:p>
          <a:p>
            <a:pPr indent="0" lvl="0" marL="0" rtl="0" algn="l">
              <a:lnSpc>
                <a:spcPct val="95000"/>
              </a:lnSpc>
              <a:spcBef>
                <a:spcPts val="1200"/>
              </a:spcBef>
              <a:spcAft>
                <a:spcPts val="0"/>
              </a:spcAft>
              <a:buNone/>
            </a:pPr>
            <a:r>
              <a:t/>
            </a:r>
            <a:endParaRPr sz="860"/>
          </a:p>
          <a:p>
            <a:pPr indent="0" lvl="0" marL="0" rtl="0" algn="l">
              <a:lnSpc>
                <a:spcPct val="95000"/>
              </a:lnSpc>
              <a:spcBef>
                <a:spcPts val="1200"/>
              </a:spcBef>
              <a:spcAft>
                <a:spcPts val="0"/>
              </a:spcAft>
              <a:buNone/>
            </a:pPr>
            <a:r>
              <a:t/>
            </a:r>
            <a:endParaRPr sz="860"/>
          </a:p>
          <a:p>
            <a:pPr indent="0" lvl="0" marL="0" rtl="0" algn="l">
              <a:lnSpc>
                <a:spcPct val="95000"/>
              </a:lnSpc>
              <a:spcBef>
                <a:spcPts val="1200"/>
              </a:spcBef>
              <a:spcAft>
                <a:spcPts val="1200"/>
              </a:spcAft>
              <a:buSzPts val="605"/>
              <a:buNone/>
            </a:pPr>
            <a:r>
              <a:t/>
            </a:r>
            <a:endParaRPr sz="860"/>
          </a:p>
        </p:txBody>
      </p:sp>
      <p:sp>
        <p:nvSpPr>
          <p:cNvPr id="357" name="Google Shape;357;p23"/>
          <p:cNvSpPr txBox="1"/>
          <p:nvPr>
            <p:ph idx="2" type="body"/>
          </p:nvPr>
        </p:nvSpPr>
        <p:spPr>
          <a:xfrm>
            <a:off x="5313250" y="1597875"/>
            <a:ext cx="3624300" cy="1770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200"/>
              <a:t>Grâce à notre procédure de restauration, l'incident est résolu en quelques secondes. La vérification finale confirme que l'intégralité des 20 produits a été récupérée sans aucune perte de données.</a:t>
            </a:r>
            <a:endParaRPr sz="1200"/>
          </a:p>
        </p:txBody>
      </p:sp>
      <p:pic>
        <p:nvPicPr>
          <p:cNvPr id="358" name="Google Shape;358;p23"/>
          <p:cNvPicPr preferRelativeResize="0"/>
          <p:nvPr/>
        </p:nvPicPr>
        <p:blipFill>
          <a:blip r:embed="rId3">
            <a:alphaModFix/>
          </a:blip>
          <a:stretch>
            <a:fillRect/>
          </a:stretch>
        </p:blipFill>
        <p:spPr>
          <a:xfrm>
            <a:off x="2182000" y="2912550"/>
            <a:ext cx="5274099" cy="1998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4"/>
          <p:cNvSpPr txBox="1"/>
          <p:nvPr>
            <p:ph type="title"/>
          </p:nvPr>
        </p:nvSpPr>
        <p:spPr>
          <a:xfrm>
            <a:off x="1010700" y="351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Conclusion</a:t>
            </a:r>
            <a:endParaRPr/>
          </a:p>
        </p:txBody>
      </p:sp>
      <p:sp>
        <p:nvSpPr>
          <p:cNvPr id="364" name="Google Shape;364;p24"/>
          <p:cNvSpPr txBox="1"/>
          <p:nvPr>
            <p:ph type="title"/>
          </p:nvPr>
        </p:nvSpPr>
        <p:spPr>
          <a:xfrm>
            <a:off x="1741500" y="1908025"/>
            <a:ext cx="43962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sz="1400"/>
              <a:t>Bilan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fr" sz="1400"/>
              <a:t>Infrastructure déployée et fonctionnelle.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fr" sz="1400"/>
              <a:t>Sécurité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fr" sz="1400"/>
              <a:t>Pérennité assurée.</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